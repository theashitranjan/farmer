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notesMasterIdLst>
    <p:notesMasterId r:id="rId21"/>
  </p:notesMasterIdLst>
  <p:sldIdLst>
    <p:sldId id="441" r:id="rId5"/>
    <p:sldId id="442" r:id="rId6"/>
    <p:sldId id="476" r:id="rId7"/>
    <p:sldId id="477" r:id="rId8"/>
    <p:sldId id="479" r:id="rId9"/>
    <p:sldId id="487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496" r:id="rId19"/>
    <p:sldId id="486" r:id="rId20"/>
  </p:sldIdLst>
  <p:sldSz cx="9144000" cy="6858000" type="screen4x3"/>
  <p:notesSz cx="6797675" cy="998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72B43D-3968-4755-B540-4B80269EA300}" v="23" dt="2024-05-31T14:45:30.123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8725" autoAdjust="0"/>
  </p:normalViewPr>
  <p:slideViewPr>
    <p:cSldViewPr showGuides="1">
      <p:cViewPr varScale="1">
        <p:scale>
          <a:sx n="75" d="100"/>
          <a:sy n="75" d="100"/>
        </p:scale>
        <p:origin x="16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7A000-EE4E-4CF8-B809-22BE9381994A}" type="datetimeFigureOut">
              <a:rPr lang="en-IN" smtClean="0"/>
              <a:pPr/>
              <a:t>29-06-2025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41545"/>
            <a:ext cx="5438140" cy="44919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9E6A8-F505-426F-8A62-BAE3DBD380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34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175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3" name="Group 45"/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7" name="Rectangle 46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rgbClr val="B1D88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IN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8" name="Freeform 47"/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B1D88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IN" sz="135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48"/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5" name="AutoShape 49"/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rgbClr val="00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IN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6" name="AutoShape 50"/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rgbClr val="00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IN" sz="1350">
                  <a:solidFill>
                    <a:srgbClr val="000000"/>
                  </a:solidFill>
                </a:endParaRPr>
              </a:p>
            </p:txBody>
          </p:sp>
        </p:grpSp>
      </p:grpSp>
      <p:pic>
        <p:nvPicPr>
          <p:cNvPr id="9" name="Picture 56" descr="_DSC335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572000"/>
            <a:ext cx="3125788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7" descr="_DSC005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413002"/>
            <a:ext cx="3125788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8" descr="_DSC213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13000"/>
            <a:ext cx="312420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9" descr="Chambal double lin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" t="400" r="140" b="572"/>
          <a:stretch>
            <a:fillRect/>
          </a:stretch>
        </p:blipFill>
        <p:spPr bwMode="auto">
          <a:xfrm>
            <a:off x="4572000" y="5334000"/>
            <a:ext cx="3048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5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2438401" y="6248402"/>
            <a:ext cx="2130425" cy="4746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/>
            </a:lvl1pPr>
          </a:lstStyle>
          <a:p>
            <a:fld id="{BBFAEFB6-3FC7-4143-A641-65B42BBA6F76}" type="datetimeFigureOut">
              <a:rPr lang="en-IN" smtClean="0">
                <a:solidFill>
                  <a:srgbClr val="000000"/>
                </a:solidFill>
              </a:rPr>
              <a:pPr/>
              <a:t>29-06-2025</a:t>
            </a:fld>
            <a:endParaRPr lang="en-IN">
              <a:solidFill>
                <a:srgbClr val="000000"/>
              </a:solidFill>
            </a:endParaRPr>
          </a:p>
        </p:txBody>
      </p:sp>
      <p:sp>
        <p:nvSpPr>
          <p:cNvPr id="14" name="Rectangle 54"/>
          <p:cNvSpPr>
            <a:spLocks noGrp="1" noChangeArrowheads="1"/>
          </p:cNvSpPr>
          <p:nvPr>
            <p:ph type="ftr" sz="quarter" idx="11"/>
          </p:nvPr>
        </p:nvSpPr>
        <p:spPr>
          <a:xfrm>
            <a:off x="4775201" y="6197602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7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85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85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18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7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22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42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6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92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638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29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5"/>
          <p:cNvSpPr>
            <a:spLocks noChangeArrowheads="1"/>
          </p:cNvSpPr>
          <p:nvPr/>
        </p:nvSpPr>
        <p:spPr bwMode="auto">
          <a:xfrm>
            <a:off x="1" y="0"/>
            <a:ext cx="454025" cy="6858000"/>
          </a:xfrm>
          <a:prstGeom prst="rect">
            <a:avLst/>
          </a:prstGeom>
          <a:solidFill>
            <a:srgbClr val="B1D88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350">
              <a:solidFill>
                <a:srgbClr val="000000"/>
              </a:solidFill>
            </a:endParaRPr>
          </a:p>
        </p:txBody>
      </p:sp>
      <p:sp>
        <p:nvSpPr>
          <p:cNvPr id="1027" name="Freeform 46"/>
          <p:cNvSpPr>
            <a:spLocks/>
          </p:cNvSpPr>
          <p:nvPr/>
        </p:nvSpPr>
        <p:spPr bwMode="auto">
          <a:xfrm>
            <a:off x="271464" y="0"/>
            <a:ext cx="1633537" cy="609600"/>
          </a:xfrm>
          <a:custGeom>
            <a:avLst/>
            <a:gdLst>
              <a:gd name="T0" fmla="*/ 1544237923 w 1728"/>
              <a:gd name="T1" fmla="*/ 0 h 735"/>
              <a:gd name="T2" fmla="*/ 1544237923 w 1728"/>
              <a:gd name="T3" fmla="*/ 330184242 h 735"/>
              <a:gd name="T4" fmla="*/ 339589465 w 1728"/>
              <a:gd name="T5" fmla="*/ 331560196 h 735"/>
              <a:gd name="T6" fmla="*/ 316354103 w 1728"/>
              <a:gd name="T7" fmla="*/ 330184242 h 735"/>
              <a:gd name="T8" fmla="*/ 275246258 w 1728"/>
              <a:gd name="T9" fmla="*/ 336375621 h 735"/>
              <a:gd name="T10" fmla="*/ 219839292 w 1728"/>
              <a:gd name="T11" fmla="*/ 365266514 h 735"/>
              <a:gd name="T12" fmla="*/ 184093381 w 1728"/>
              <a:gd name="T13" fmla="*/ 410666371 h 735"/>
              <a:gd name="T14" fmla="*/ 171581886 w 1728"/>
              <a:gd name="T15" fmla="*/ 458130573 h 735"/>
              <a:gd name="T16" fmla="*/ 171581886 w 1728"/>
              <a:gd name="T17" fmla="*/ 505594776 h 735"/>
              <a:gd name="T18" fmla="*/ 0 w 1728"/>
              <a:gd name="T19" fmla="*/ 505594776 h 735"/>
              <a:gd name="T20" fmla="*/ 0 w 1728"/>
              <a:gd name="T21" fmla="*/ 330184242 h 735"/>
              <a:gd name="T22" fmla="*/ 0 w 1728"/>
              <a:gd name="T23" fmla="*/ 0 h 735"/>
              <a:gd name="T24" fmla="*/ 1544237923 w 1728"/>
              <a:gd name="T25" fmla="*/ 0 h 73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solidFill>
            <a:srgbClr val="B1D88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1350">
              <a:solidFill>
                <a:srgbClr val="000000"/>
              </a:solidFill>
            </a:endParaRPr>
          </a:p>
        </p:txBody>
      </p:sp>
      <p:grpSp>
        <p:nvGrpSpPr>
          <p:cNvPr id="1028" name="Group 47"/>
          <p:cNvGrpSpPr>
            <a:grpSpLocks/>
          </p:cNvGrpSpPr>
          <p:nvPr/>
        </p:nvGrpSpPr>
        <p:grpSpPr bwMode="auto">
          <a:xfrm>
            <a:off x="152400" y="1143000"/>
            <a:ext cx="7239000" cy="152400"/>
            <a:chOff x="144" y="1248"/>
            <a:chExt cx="4656" cy="201"/>
          </a:xfrm>
        </p:grpSpPr>
        <p:sp>
          <p:nvSpPr>
            <p:cNvPr id="1031" name="AutoShape 48"/>
            <p:cNvSpPr>
              <a:spLocks noChangeArrowheads="1"/>
            </p:cNvSpPr>
            <p:nvPr/>
          </p:nvSpPr>
          <p:spPr bwMode="auto">
            <a:xfrm>
              <a:off x="384" y="1248"/>
              <a:ext cx="4416" cy="201"/>
            </a:xfrm>
            <a:prstGeom prst="roundRect">
              <a:avLst>
                <a:gd name="adj" fmla="val 0"/>
              </a:avLst>
            </a:prstGeom>
            <a:solidFill>
              <a:srgbClr val="00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350">
                <a:solidFill>
                  <a:srgbClr val="000000"/>
                </a:solidFill>
              </a:endParaRPr>
            </a:p>
          </p:txBody>
        </p:sp>
        <p:sp>
          <p:nvSpPr>
            <p:cNvPr id="1032" name="AutoShape 49"/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rgbClr val="00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350">
                <a:solidFill>
                  <a:srgbClr val="000000"/>
                </a:solidFill>
              </a:endParaRPr>
            </a:p>
          </p:txBody>
        </p:sp>
      </p:grpSp>
      <p:sp>
        <p:nvSpPr>
          <p:cNvPr id="20531" name="Rectangle 5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500813" y="6383338"/>
            <a:ext cx="2897187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rgbClr val="969696"/>
                </a:solidFill>
                <a:latin typeface="Georgia" panose="02040502050405020303" pitchFamily="18" charset="0"/>
              </a:defRPr>
            </a:lvl1pPr>
          </a:lstStyle>
          <a:p>
            <a:endParaRPr lang="en-IN"/>
          </a:p>
        </p:txBody>
      </p:sp>
      <p:pic>
        <p:nvPicPr>
          <p:cNvPr id="1030" name="Picture 55" descr="Chambal double l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" t="400" r="140" b="572"/>
          <a:stretch>
            <a:fillRect/>
          </a:stretch>
        </p:blipFill>
        <p:spPr bwMode="auto">
          <a:xfrm>
            <a:off x="6400800" y="-12700"/>
            <a:ext cx="2755900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55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1052736"/>
            <a:ext cx="79208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lasassy Caps" panose="020F0502020204030204" pitchFamily="2" charset="0"/>
              </a:rPr>
              <a:t>HQ- SASARAM ( S2H AREA SASARAM)</a:t>
            </a:r>
            <a:endParaRPr lang="en-IN" sz="4000" b="1" dirty="0">
              <a:latin typeface="Alasassy Caps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89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288" y="1484785"/>
            <a:ext cx="8398758" cy="158417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SP-TS Report Under S2H Projects for the month of JUNE 2025</a:t>
            </a:r>
            <a:endParaRPr lang="en-IN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88" y="4221088"/>
            <a:ext cx="8398758" cy="19844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r>
              <a:rPr lang="en-US" sz="2000" b="1" dirty="0"/>
              <a:t> 10 Soil Sample Day</a:t>
            </a:r>
            <a:r>
              <a:rPr lang="en-US" sz="2000" dirty="0"/>
              <a:t> </a:t>
            </a:r>
            <a:r>
              <a:rPr lang="en-US" sz="2000" dirty="0" err="1"/>
              <a:t>organised</a:t>
            </a:r>
            <a:r>
              <a:rPr lang="en-US" sz="2000" dirty="0"/>
              <a:t>  in S2H Villages of </a:t>
            </a:r>
            <a:r>
              <a:rPr lang="en-US" sz="2000" dirty="0" err="1"/>
              <a:t>Rohtas</a:t>
            </a:r>
            <a:r>
              <a:rPr lang="en-US" sz="2000" dirty="0"/>
              <a:t> district.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8586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Campaign -Objective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27711"/>
          </a:xfrm>
        </p:spPr>
        <p:txBody>
          <a:bodyPr/>
          <a:lstStyle/>
          <a:p>
            <a:pPr algn="just"/>
            <a:r>
              <a:rPr lang="en-IN" dirty="0"/>
              <a:t>We have organised 10 Soil Sample</a:t>
            </a:r>
            <a:r>
              <a:rPr lang="en-US" sz="2400" dirty="0"/>
              <a:t> day</a:t>
            </a:r>
            <a:r>
              <a:rPr lang="en-IN" dirty="0"/>
              <a:t> conducted during the month of June 2025 for promotion and awareness of Uttam Products as well as CPC&amp;SN.</a:t>
            </a:r>
          </a:p>
          <a:p>
            <a:r>
              <a:rPr lang="en-IN" b="1" u="sng" dirty="0"/>
              <a:t>Objective of Campaign:-</a:t>
            </a:r>
          </a:p>
          <a:p>
            <a:r>
              <a:rPr lang="en-IN" dirty="0"/>
              <a:t>Effective Massage convey of S2H project.  </a:t>
            </a:r>
          </a:p>
          <a:p>
            <a:pPr lvl="0"/>
            <a:r>
              <a:rPr lang="en-IN" dirty="0"/>
              <a:t>To Plan  CFCL Brand promotion activity among the Farmers.</a:t>
            </a:r>
          </a:p>
          <a:p>
            <a:pPr lvl="0" algn="just"/>
            <a:r>
              <a:rPr lang="en-IN" dirty="0"/>
              <a:t>To Provide Awareness about use of different micronutrient as per the soil demand and crop requirement .</a:t>
            </a:r>
          </a:p>
          <a:p>
            <a:pPr lvl="0"/>
            <a:r>
              <a:rPr lang="en-IN" dirty="0"/>
              <a:t>Balance Fertiliser uses.</a:t>
            </a:r>
          </a:p>
          <a:p>
            <a:pPr lvl="0"/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87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20688"/>
            <a:ext cx="7886700" cy="1070002"/>
          </a:xfrm>
        </p:spPr>
        <p:txBody>
          <a:bodyPr/>
          <a:lstStyle/>
          <a:p>
            <a:r>
              <a:rPr lang="en-US" sz="2800" dirty="0"/>
              <a:t>Main Points discussed during campaign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First, We are taken soil sample &amp; deliver results to farmers this campaign will create a good relationship with farmers which help to penetrate SN &amp; CPC Sales in that villages 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In these campaign we thrust for speciality nutrient and crop protection chemicals.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After understating of their consumption pattern, we delivered our knowledge thoroughly regarding consumption of fertilisers.</a:t>
            </a:r>
          </a:p>
          <a:p>
            <a:pPr marL="1714500" lvl="5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749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997994"/>
          </a:xfrm>
        </p:spPr>
        <p:txBody>
          <a:bodyPr/>
          <a:lstStyle/>
          <a:p>
            <a:r>
              <a:rPr lang="en-US" sz="2800" dirty="0"/>
              <a:t>Observations of  Farmers meeting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2771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lvl="0" algn="just"/>
            <a:r>
              <a:rPr lang="en-IN" sz="2400" dirty="0"/>
              <a:t>Farmers are Not aware about Soil testing &amp; Nutrition .</a:t>
            </a:r>
          </a:p>
          <a:p>
            <a:pPr lvl="0" algn="just"/>
            <a:r>
              <a:rPr lang="en-IN" sz="2400" dirty="0"/>
              <a:t>Now we are targeting to increase no of  soil sample &amp; build relation with farmers.</a:t>
            </a:r>
          </a:p>
          <a:p>
            <a:pPr lvl="0" algn="just"/>
            <a:r>
              <a:rPr lang="en-IN" sz="2400" dirty="0"/>
              <a:t>Quality wise they accept </a:t>
            </a:r>
            <a:r>
              <a:rPr lang="en-IN" sz="2400" i="1" dirty="0" err="1"/>
              <a:t>uttam</a:t>
            </a:r>
            <a:r>
              <a:rPr lang="en-IN" sz="2400" dirty="0"/>
              <a:t> product as very good category.</a:t>
            </a:r>
          </a:p>
          <a:p>
            <a:pPr lvl="0" algn="just"/>
            <a:r>
              <a:rPr lang="en-IN" sz="2400" dirty="0"/>
              <a:t>Its common observation Farmer were very interested to know the soil sample results </a:t>
            </a:r>
          </a:p>
          <a:p>
            <a:pPr marL="0" lvl="0" indent="0" algn="just">
              <a:buNone/>
            </a:pPr>
            <a:r>
              <a:rPr lang="en-IN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2689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093632"/>
              </p:ext>
            </p:extLst>
          </p:nvPr>
        </p:nvGraphicFramePr>
        <p:xfrm>
          <a:off x="5220072" y="2132856"/>
          <a:ext cx="3384376" cy="24482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KUSHDIHRA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27.06.2025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C592B-B4B2-7093-9EEF-61CF9ABBC9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43148"/>
            <a:ext cx="4228938" cy="317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552167"/>
              </p:ext>
            </p:extLst>
          </p:nvPr>
        </p:nvGraphicFramePr>
        <p:xfrm>
          <a:off x="5580112" y="2420888"/>
          <a:ext cx="3024336" cy="259228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HURUKA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26.06.2025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8F6A9B-CA85-42FB-BD69-E6E1DEAD5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88840"/>
            <a:ext cx="4739549" cy="355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898341"/>
              </p:ext>
            </p:extLst>
          </p:nvPr>
        </p:nvGraphicFramePr>
        <p:xfrm>
          <a:off x="5436096" y="2348880"/>
          <a:ext cx="3096344" cy="2203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8172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55086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ARADIH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25.05.2025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D17CAA-3896-195D-BD90-8C313239CE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7361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857960"/>
              </p:ext>
            </p:extLst>
          </p:nvPr>
        </p:nvGraphicFramePr>
        <p:xfrm>
          <a:off x="5364088" y="2132856"/>
          <a:ext cx="3240360" cy="288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HARANCHITI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26.06.2025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D4430-C771-1A23-7E49-A1A3718597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58905"/>
            <a:ext cx="4720252" cy="354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602032"/>
              </p:ext>
            </p:extLst>
          </p:nvPr>
        </p:nvGraphicFramePr>
        <p:xfrm>
          <a:off x="5364088" y="2276872"/>
          <a:ext cx="2952328" cy="22538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57178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SEWAHI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538484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57178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57178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25.06.2025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93424-C096-1D5D-DC1C-AE203FFD9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64804"/>
            <a:ext cx="4704523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28808"/>
              </p:ext>
            </p:extLst>
          </p:nvPr>
        </p:nvGraphicFramePr>
        <p:xfrm>
          <a:off x="5364088" y="2492896"/>
          <a:ext cx="3240360" cy="259228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TENDUNI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CHENARI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24.06.2025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0355E-7A16-3B0F-4690-0315295EEA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4" y="1988840"/>
            <a:ext cx="4800533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50925"/>
              </p:ext>
            </p:extLst>
          </p:nvPr>
        </p:nvGraphicFramePr>
        <p:xfrm>
          <a:off x="5364088" y="2636912"/>
          <a:ext cx="3168352" cy="22322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RENDIA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CHENARI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23.06.2025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2F08E-FFE3-20B9-190D-E2B724F083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759184"/>
            <a:ext cx="4690640" cy="210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628135"/>
              </p:ext>
            </p:extLst>
          </p:nvPr>
        </p:nvGraphicFramePr>
        <p:xfrm>
          <a:off x="5052392" y="2348881"/>
          <a:ext cx="3408040" cy="233551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0402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704020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72709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CHANKA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536141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NOKHA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536141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536141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24.06.2025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3FBBB-6823-DC0F-44A9-D744584E25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73" y="1772816"/>
            <a:ext cx="4416491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289039"/>
              </p:ext>
            </p:extLst>
          </p:nvPr>
        </p:nvGraphicFramePr>
        <p:xfrm>
          <a:off x="5436096" y="2420888"/>
          <a:ext cx="3240360" cy="24482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NAWADIH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27.06.2025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2A7B9-0847-ABFE-065E-8A30947A44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34834"/>
            <a:ext cx="4560507" cy="342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270721"/>
              </p:ext>
            </p:extLst>
          </p:nvPr>
        </p:nvGraphicFramePr>
        <p:xfrm>
          <a:off x="5076056" y="2348880"/>
          <a:ext cx="3048000" cy="2563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35832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4087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SHAHPUR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4087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CHENARI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4087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4087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23.06.2025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EC2DB5-F080-A840-3CD9-6CFCA9AC74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67" y="1740956"/>
            <a:ext cx="4501449" cy="337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8460" y="1783959"/>
            <a:ext cx="306548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7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group of people standing in a field&#10;&#10;Description automatically generated with medium confidence">
            <a:extLst>
              <a:ext uri="{FF2B5EF4-FFF2-40B4-BE49-F238E27FC236}">
                <a16:creationId xmlns:a16="http://schemas.microsoft.com/office/drawing/2014/main" id="{B1ECF87C-6CA1-B8C6-8FA1-7BC097E75E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"/>
          <a:stretch/>
        </p:blipFill>
        <p:spPr>
          <a:xfrm>
            <a:off x="20" y="-27384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Rectangle 8"/>
          <p:cNvSpPr/>
          <p:nvPr/>
        </p:nvSpPr>
        <p:spPr>
          <a:xfrm>
            <a:off x="4860032" y="4595681"/>
            <a:ext cx="41441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</a:pPr>
            <a:r>
              <a:rPr lang="en-US" sz="4800" b="1" dirty="0"/>
              <a:t>Thanks</a:t>
            </a:r>
            <a:endParaRPr lang="en-IN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81823C-4D2C-A810-4A85-91DF208633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664"/>
            <a:ext cx="5521637" cy="70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51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B29EFD579627439E18921ED42FC17B" ma:contentTypeVersion="2" ma:contentTypeDescription="Create a new document." ma:contentTypeScope="" ma:versionID="aa965b5c10775b8a2bd5500ff6e18d03">
  <xsd:schema xmlns:xsd="http://www.w3.org/2001/XMLSchema" xmlns:xs="http://www.w3.org/2001/XMLSchema" xmlns:p="http://schemas.microsoft.com/office/2006/metadata/properties" xmlns:ns3="478852a5-a6e0-4681-b30d-0629227be242" targetNamespace="http://schemas.microsoft.com/office/2006/metadata/properties" ma:root="true" ma:fieldsID="48fb676fbf5993c2ca29202617e41f9f" ns3:_="">
    <xsd:import namespace="478852a5-a6e0-4681-b30d-0629227be24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8852a5-a6e0-4681-b30d-0629227be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3BF02B-0685-4EB4-AFA2-D2A821781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8852a5-a6e0-4681-b30d-0629227be2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FDAE0D-D287-4BD9-8233-0CC6DBCB664D}">
  <ds:schemaRefs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478852a5-a6e0-4681-b30d-0629227be242"/>
  </ds:schemaRefs>
</ds:datastoreItem>
</file>

<file path=customXml/itemProps3.xml><?xml version="1.0" encoding="utf-8"?>
<ds:datastoreItem xmlns:ds="http://schemas.openxmlformats.org/officeDocument/2006/customXml" ds:itemID="{F9B1034B-9092-446B-8BC4-7767C4290D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7838</TotalTime>
  <Words>383</Words>
  <Application>Microsoft Office PowerPoint</Application>
  <PresentationFormat>On-screen Show (4:3)</PresentationFormat>
  <Paragraphs>132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Alasassy Caps</vt:lpstr>
      <vt:lpstr>Arial</vt:lpstr>
      <vt:lpstr>Calibri</vt:lpstr>
      <vt:lpstr>Georgia</vt:lpstr>
      <vt:lpstr>Wingdings</vt:lpstr>
      <vt:lpstr>1_Network</vt:lpstr>
      <vt:lpstr>PowerPoint Presentation</vt:lpstr>
      <vt:lpstr>SP-TS Report Under S2H Projects for the month of JUNE 2025</vt:lpstr>
      <vt:lpstr>Campaign -Objective</vt:lpstr>
      <vt:lpstr>Main Points discussed during campaign</vt:lpstr>
      <vt:lpstr>Observations of  Farmers meeting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 </vt:lpstr>
    </vt:vector>
  </TitlesOfParts>
  <Company>CFCL - Gadepan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RAJIV KUMAR SINGH</dc:creator>
  <cp:lastModifiedBy>Prince Kumar</cp:lastModifiedBy>
  <cp:revision>475</cp:revision>
  <cp:lastPrinted>2020-01-23T05:13:28Z</cp:lastPrinted>
  <dcterms:created xsi:type="dcterms:W3CDTF">2019-07-18T05:45:38Z</dcterms:created>
  <dcterms:modified xsi:type="dcterms:W3CDTF">2025-06-29T08:50:53Z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0x01010034B29EFD579627439E18921ED42FC17B</vt:lpwstr>
  </property>
  <property fmtid="{D5CDD505-2E9C-101B-9397-08002B2CF9AE}" pid="3" name="NXPowerLiteLastOptimized">
    <vt:lpwstr>696518</vt:lpwstr>
  </property>
  <property fmtid="{D5CDD505-2E9C-101B-9397-08002B2CF9AE}" pid="4" name="NXPowerLiteSettings">
    <vt:lpwstr>F7000400038000</vt:lpwstr>
  </property>
  <property fmtid="{D5CDD505-2E9C-101B-9397-08002B2CF9AE}" pid="5" name="NXPowerLiteVersion">
    <vt:lpwstr>S10.0.0</vt:lpwstr>
  </property>
</Properties>
</file>